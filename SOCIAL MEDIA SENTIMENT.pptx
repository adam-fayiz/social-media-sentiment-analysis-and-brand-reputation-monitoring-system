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0" r:id="rId4"/>
    <p:sldId id="258" r:id="rId5"/>
    <p:sldId id="259" r:id="rId6"/>
    <p:sldId id="261" r:id="rId7"/>
    <p:sldId id="262" r:id="rId8"/>
    <p:sldId id="263" r:id="rId9"/>
    <p:sldId id="264" r:id="rId1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EB7C086-23BA-4EBB-8034-3904B0ECD123}" type="datetimeFigureOut">
              <a:rPr lang="en-US" smtClean="0"/>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EDF933-14DA-4FF8-BAA7-A0FC69C3F624}"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EB7C086-23BA-4EBB-8034-3904B0ECD123}" type="datetimeFigureOut">
              <a:rPr lang="en-US" smtClean="0"/>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EDF933-14DA-4FF8-BAA7-A0FC69C3F624}"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EB7C086-23BA-4EBB-8034-3904B0ECD123}" type="datetimeFigureOut">
              <a:rPr lang="en-US" smtClean="0"/>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EDF933-14DA-4FF8-BAA7-A0FC69C3F624}"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EB7C086-23BA-4EBB-8034-3904B0ECD123}" type="datetimeFigureOut">
              <a:rPr lang="en-US" smtClean="0"/>
              <a:t>6/25/2026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CEDF933-14DA-4FF8-BAA7-A0FC69C3F624}"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EB7C086-23BA-4EBB-8034-3904B0ECD123}" type="datetimeFigureOut">
              <a:rPr lang="en-US" smtClean="0"/>
              <a:t>6/25/2026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CEDF933-14DA-4FF8-BAA7-A0FC69C3F624}"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EB7C086-23BA-4EBB-8034-3904B0ECD123}" type="datetimeFigureOut">
              <a:rPr lang="en-US" smtClean="0"/>
              <a:t>6/25/2026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CEDF933-14DA-4FF8-BAA7-A0FC69C3F624}"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EB7C086-23BA-4EBB-8034-3904B0ECD123}" type="datetimeFigureOut">
              <a:rPr lang="en-US" smtClean="0"/>
              <a:t>6/25/2026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CEDF933-14DA-4FF8-BAA7-A0FC69C3F624}"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EB7C086-23BA-4EBB-8034-3904B0ECD123}" type="datetimeFigureOut">
              <a:rPr lang="en-US" smtClean="0"/>
              <a:t>6/25/2026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CEDF933-14DA-4FF8-BAA7-A0FC69C3F624}"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EB7C086-23BA-4EBB-8034-3904B0ECD123}" type="datetimeFigureOut">
              <a:rPr lang="en-US" smtClean="0"/>
              <a:t>6/25/2026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CEDF933-14DA-4FF8-BAA7-A0FC69C3F624}"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EB7C086-23BA-4EBB-8034-3904B0ECD123}" type="datetimeFigureOut">
              <a:rPr lang="en-US" smtClean="0"/>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EDF933-14DA-4FF8-BAA7-A0FC69C3F624}"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EB7C086-23BA-4EBB-8034-3904B0ECD123}" type="datetimeFigureOut">
              <a:rPr lang="en-US" smtClean="0"/>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EDF933-14DA-4FF8-BAA7-A0FC69C3F624}"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l="-15000" r="-15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EB7C086-23BA-4EBB-8034-3904B0ECD123}" type="datetimeFigureOut">
              <a:rPr lang="en-US" smtClean="0"/>
              <a:t>6/25/2026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CEDF933-14DA-4FF8-BAA7-A0FC69C3F624}"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81000" y="533400"/>
            <a:ext cx="8534400" cy="1981200"/>
          </a:xfrm>
        </p:spPr>
        <p:txBody>
          <a:bodyPr numCol="1">
            <a:noAutofit/>
          </a:bodyPr>
          <a:lstStyle/>
          <a:p>
            <a:r>
              <a:rPr lang="en-US" b="1" u="sng" dirty="0" smtClean="0"/>
              <a:t>SOCIAL MEDIA SENTIMENT AND </a:t>
            </a:r>
            <a:br>
              <a:rPr lang="en-US" b="1" u="sng" dirty="0" smtClean="0"/>
            </a:br>
            <a:r>
              <a:rPr lang="en-US" b="1" u="sng" dirty="0" smtClean="0"/>
              <a:t>BRAND REPUTATION MONITORING</a:t>
            </a:r>
            <a:br>
              <a:rPr lang="en-US" b="1" u="sng" dirty="0" smtClean="0"/>
            </a:br>
            <a:r>
              <a:rPr lang="en-US" b="1" u="sng" dirty="0" smtClean="0"/>
              <a:t>SYSTEM</a:t>
            </a:r>
            <a:endParaRPr lang="en-US" b="1" u="sng" dirty="0"/>
          </a:p>
        </p:txBody>
      </p:sp>
      <p:sp>
        <p:nvSpPr>
          <p:cNvPr id="3" name="Subtitle 2"/>
          <p:cNvSpPr>
            <a:spLocks noGrp="1"/>
          </p:cNvSpPr>
          <p:nvPr>
            <p:ph type="subTitle" idx="1"/>
          </p:nvPr>
        </p:nvSpPr>
        <p:spPr>
          <a:xfrm>
            <a:off x="228600" y="4191000"/>
            <a:ext cx="8610600" cy="2057400"/>
          </a:xfrm>
        </p:spPr>
        <p:txBody>
          <a:bodyPr>
            <a:normAutofit/>
          </a:bodyPr>
          <a:lstStyle/>
          <a:p>
            <a:r>
              <a:rPr lang="en-US" b="1" dirty="0" smtClean="0">
                <a:solidFill>
                  <a:schemeClr val="tx1"/>
                </a:solidFill>
              </a:rPr>
              <a:t>Tools: </a:t>
            </a:r>
            <a:r>
              <a:rPr lang="en-US" b="1" dirty="0" err="1" smtClean="0">
                <a:solidFill>
                  <a:schemeClr val="tx1"/>
                </a:solidFill>
              </a:rPr>
              <a:t>Excel,Python,PostgreSQL,Power</a:t>
            </a:r>
            <a:r>
              <a:rPr lang="en-US" b="1" dirty="0" smtClean="0">
                <a:solidFill>
                  <a:schemeClr val="tx1"/>
                </a:solidFill>
              </a:rPr>
              <a:t> BI.</a:t>
            </a:r>
          </a:p>
          <a:p>
            <a:r>
              <a:rPr lang="en-US" b="1" dirty="0" smtClean="0">
                <a:solidFill>
                  <a:schemeClr val="tx1"/>
                </a:solidFill>
              </a:rPr>
              <a:t>Dataset: </a:t>
            </a:r>
            <a:r>
              <a:rPr lang="en-US" b="1" dirty="0" err="1" smtClean="0">
                <a:solidFill>
                  <a:schemeClr val="tx1"/>
                </a:solidFill>
              </a:rPr>
              <a:t>social_media_data</a:t>
            </a:r>
            <a:r>
              <a:rPr lang="en-US" b="1" dirty="0" smtClean="0">
                <a:solidFill>
                  <a:schemeClr val="tx1"/>
                </a:solidFill>
              </a:rPr>
              <a:t>.</a:t>
            </a:r>
          </a:p>
          <a:p>
            <a:r>
              <a:rPr lang="en-US" b="1" dirty="0" smtClean="0">
                <a:solidFill>
                  <a:schemeClr val="tx1"/>
                </a:solidFill>
              </a:rPr>
              <a:t>Prepared By: </a:t>
            </a:r>
            <a:r>
              <a:rPr lang="en-US" b="1" dirty="0" err="1" smtClean="0">
                <a:solidFill>
                  <a:schemeClr val="tx1"/>
                </a:solidFill>
              </a:rPr>
              <a:t>Shashank</a:t>
            </a:r>
            <a:r>
              <a:rPr lang="en-US" b="1" dirty="0" smtClean="0">
                <a:solidFill>
                  <a:schemeClr val="tx1"/>
                </a:solidFill>
              </a:rPr>
              <a:t> </a:t>
            </a:r>
            <a:r>
              <a:rPr lang="en-US" b="1" dirty="0" err="1" smtClean="0">
                <a:solidFill>
                  <a:schemeClr val="tx1"/>
                </a:solidFill>
              </a:rPr>
              <a:t>G,Adam</a:t>
            </a:r>
            <a:r>
              <a:rPr lang="en-US" b="1" dirty="0" smtClean="0">
                <a:solidFill>
                  <a:schemeClr val="tx1"/>
                </a:solidFill>
              </a:rPr>
              <a:t> </a:t>
            </a:r>
            <a:r>
              <a:rPr lang="en-US" b="1" dirty="0" err="1" smtClean="0">
                <a:solidFill>
                  <a:schemeClr val="tx1"/>
                </a:solidFill>
              </a:rPr>
              <a:t>Fayiz,Abdul</a:t>
            </a:r>
            <a:r>
              <a:rPr lang="en-US" b="1" dirty="0" smtClean="0">
                <a:solidFill>
                  <a:schemeClr val="tx1"/>
                </a:solidFill>
              </a:rPr>
              <a:t> </a:t>
            </a:r>
            <a:r>
              <a:rPr lang="en-US" b="1" dirty="0" err="1" smtClean="0">
                <a:solidFill>
                  <a:schemeClr val="tx1"/>
                </a:solidFill>
              </a:rPr>
              <a:t>Majid</a:t>
            </a:r>
            <a:endParaRPr lang="en-US" b="1" dirty="0" smtClean="0">
              <a:solidFill>
                <a:schemeClr val="tx1"/>
              </a:solidFill>
            </a:endParaRPr>
          </a:p>
          <a:p>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u="sng" dirty="0" smtClean="0"/>
              <a:t>PROJECT OBJECTIVE</a:t>
            </a:r>
            <a:endParaRPr lang="en-US" b="1" u="sng" dirty="0"/>
          </a:p>
        </p:txBody>
      </p:sp>
      <p:sp>
        <p:nvSpPr>
          <p:cNvPr id="3" name="Content Placeholder 2"/>
          <p:cNvSpPr>
            <a:spLocks noGrp="1"/>
          </p:cNvSpPr>
          <p:nvPr>
            <p:ph idx="1"/>
          </p:nvPr>
        </p:nvSpPr>
        <p:spPr>
          <a:xfrm>
            <a:off x="228600" y="1600200"/>
            <a:ext cx="8686800" cy="4876800"/>
          </a:xfrm>
        </p:spPr>
        <p:txBody>
          <a:bodyPr>
            <a:noAutofit/>
          </a:bodyPr>
          <a:lstStyle/>
          <a:p>
            <a:pPr algn="just"/>
            <a:r>
              <a:rPr lang="en-US" dirty="0" smtClean="0"/>
              <a:t>To collect social media post related to a brand product.</a:t>
            </a:r>
          </a:p>
          <a:p>
            <a:pPr algn="just"/>
            <a:r>
              <a:rPr lang="en-US" dirty="0" smtClean="0"/>
              <a:t>To </a:t>
            </a:r>
            <a:r>
              <a:rPr lang="en-US" dirty="0" err="1" smtClean="0"/>
              <a:t>Analyse</a:t>
            </a:r>
            <a:r>
              <a:rPr lang="en-US" dirty="0" smtClean="0"/>
              <a:t> whether people use comments like</a:t>
            </a:r>
          </a:p>
          <a:p>
            <a:pPr algn="just">
              <a:buNone/>
            </a:pPr>
            <a:r>
              <a:rPr lang="en-US" dirty="0"/>
              <a:t> </a:t>
            </a:r>
            <a:r>
              <a:rPr lang="en-US" dirty="0" smtClean="0"/>
              <a:t>   positive sentiment ,negative sentiment or </a:t>
            </a:r>
          </a:p>
          <a:p>
            <a:pPr algn="just">
              <a:buNone/>
            </a:pPr>
            <a:r>
              <a:rPr lang="en-US" dirty="0"/>
              <a:t> </a:t>
            </a:r>
            <a:r>
              <a:rPr lang="en-US" dirty="0" smtClean="0"/>
              <a:t>   neutral sentiment.</a:t>
            </a:r>
          </a:p>
          <a:p>
            <a:pPr algn="just"/>
            <a:r>
              <a:rPr lang="en-US" dirty="0" smtClean="0"/>
              <a:t>To monitor the system so that it helps to understand business like customer satisfaction, product feedback, public opinion, brand reputation and trending topics. </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229600" cy="5287963"/>
          </a:xfrm>
        </p:spPr>
        <p:txBody>
          <a:bodyPr>
            <a:normAutofit/>
          </a:bodyPr>
          <a:lstStyle/>
          <a:p>
            <a:r>
              <a:rPr lang="en-US" sz="4000" dirty="0" smtClean="0"/>
              <a:t>To monitor brand reputation by comparing with other brands.</a:t>
            </a:r>
          </a:p>
          <a:p>
            <a:r>
              <a:rPr lang="en-US" sz="4000" dirty="0" smtClean="0"/>
              <a:t>To identify the trending </a:t>
            </a:r>
            <a:r>
              <a:rPr lang="en-US" sz="4000" dirty="0" err="1" smtClean="0"/>
              <a:t>hashtag</a:t>
            </a:r>
            <a:r>
              <a:rPr lang="en-US" sz="4000" dirty="0"/>
              <a:t>.</a:t>
            </a:r>
            <a:endParaRPr lang="en-US" sz="4000" dirty="0" smtClean="0"/>
          </a:p>
          <a:p>
            <a:r>
              <a:rPr lang="en-US" sz="4000" dirty="0" smtClean="0"/>
              <a:t>To compare performance across other platform.</a:t>
            </a:r>
          </a:p>
          <a:p>
            <a:r>
              <a:rPr lang="en-US" sz="4000" dirty="0" smtClean="0"/>
              <a:t>To generate business insights.</a:t>
            </a:r>
            <a:endParaRPr lang="en-US" sz="40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lstStyle/>
          <a:p>
            <a:pPr algn="l"/>
            <a:r>
              <a:rPr lang="en-US" b="1" u="sng" dirty="0" smtClean="0"/>
              <a:t>PROJECT ARCHITECTURE</a:t>
            </a:r>
            <a:endParaRPr lang="en-US" b="1" u="sng" dirty="0"/>
          </a:p>
        </p:txBody>
      </p:sp>
      <p:sp>
        <p:nvSpPr>
          <p:cNvPr id="3" name="Content Placeholder 2"/>
          <p:cNvSpPr>
            <a:spLocks noGrp="1"/>
          </p:cNvSpPr>
          <p:nvPr>
            <p:ph idx="1"/>
          </p:nvPr>
        </p:nvSpPr>
        <p:spPr>
          <a:xfrm>
            <a:off x="457200" y="1295400"/>
            <a:ext cx="8229600" cy="5257800"/>
          </a:xfrm>
        </p:spPr>
        <p:txBody>
          <a:bodyPr>
            <a:normAutofit fontScale="92500" lnSpcReduction="20000"/>
          </a:bodyPr>
          <a:lstStyle/>
          <a:p>
            <a:pPr algn="ctr">
              <a:buNone/>
            </a:pPr>
            <a:r>
              <a:rPr lang="en-US" sz="2000" dirty="0" smtClean="0"/>
              <a:t>Excel</a:t>
            </a:r>
          </a:p>
          <a:p>
            <a:pPr algn="ctr">
              <a:buNone/>
            </a:pPr>
            <a:r>
              <a:rPr lang="en-US" sz="2000" dirty="0" smtClean="0"/>
              <a:t>(Social media dataset)</a:t>
            </a:r>
          </a:p>
          <a:p>
            <a:pPr>
              <a:buNone/>
            </a:pPr>
            <a:endParaRPr lang="en-US" sz="2000" dirty="0" smtClean="0"/>
          </a:p>
          <a:p>
            <a:pPr>
              <a:buNone/>
            </a:pPr>
            <a:endParaRPr lang="en-US" sz="2000" dirty="0"/>
          </a:p>
          <a:p>
            <a:pPr>
              <a:buNone/>
            </a:pPr>
            <a:endParaRPr lang="en-US" sz="2000" dirty="0" smtClean="0"/>
          </a:p>
          <a:p>
            <a:pPr algn="ctr">
              <a:buNone/>
            </a:pPr>
            <a:r>
              <a:rPr lang="en-US" sz="2000" dirty="0" smtClean="0"/>
              <a:t>Python</a:t>
            </a:r>
          </a:p>
          <a:p>
            <a:pPr algn="ctr">
              <a:buNone/>
            </a:pPr>
            <a:r>
              <a:rPr lang="en-US" sz="2000" dirty="0" smtClean="0"/>
              <a:t>(cleaning,</a:t>
            </a:r>
            <a:r>
              <a:rPr lang="en-US" sz="2000" dirty="0"/>
              <a:t> </a:t>
            </a:r>
            <a:r>
              <a:rPr lang="en-US" sz="2000" dirty="0" smtClean="0"/>
              <a:t>pandas,</a:t>
            </a:r>
            <a:r>
              <a:rPr lang="en-US" sz="2000" dirty="0"/>
              <a:t> </a:t>
            </a:r>
            <a:r>
              <a:rPr lang="en-US" sz="2000" dirty="0" err="1" smtClean="0"/>
              <a:t>nltk.tokenize</a:t>
            </a:r>
            <a:r>
              <a:rPr lang="en-US" sz="2000" dirty="0" smtClean="0"/>
              <a:t>,</a:t>
            </a:r>
            <a:r>
              <a:rPr lang="en-US" sz="2000" dirty="0"/>
              <a:t> </a:t>
            </a:r>
            <a:r>
              <a:rPr lang="en-US" sz="2000" dirty="0" err="1" smtClean="0"/>
              <a:t>matplotlib.pyplot</a:t>
            </a:r>
            <a:r>
              <a:rPr lang="en-US" sz="2000" dirty="0" smtClean="0"/>
              <a:t>,</a:t>
            </a:r>
            <a:r>
              <a:rPr lang="en-US" sz="2000" dirty="0"/>
              <a:t> </a:t>
            </a:r>
            <a:r>
              <a:rPr lang="en-US" sz="2000" dirty="0" err="1" smtClean="0"/>
              <a:t>wordcloud</a:t>
            </a:r>
            <a:r>
              <a:rPr lang="en-US" sz="2000" dirty="0" smtClean="0"/>
              <a:t>)</a:t>
            </a:r>
          </a:p>
          <a:p>
            <a:pPr algn="ctr">
              <a:buNone/>
            </a:pPr>
            <a:endParaRPr lang="en-US" sz="2000" dirty="0" smtClean="0"/>
          </a:p>
          <a:p>
            <a:pPr algn="ctr">
              <a:buNone/>
            </a:pPr>
            <a:endParaRPr lang="en-US" sz="2000" dirty="0"/>
          </a:p>
          <a:p>
            <a:pPr algn="ctr">
              <a:buNone/>
            </a:pPr>
            <a:endParaRPr lang="en-US" sz="2000" dirty="0"/>
          </a:p>
          <a:p>
            <a:pPr algn="ctr">
              <a:buNone/>
            </a:pPr>
            <a:r>
              <a:rPr lang="en-US" sz="2000" dirty="0" err="1" smtClean="0"/>
              <a:t>PostgreSQL</a:t>
            </a:r>
            <a:endParaRPr lang="en-US" sz="2000" dirty="0" smtClean="0"/>
          </a:p>
          <a:p>
            <a:pPr algn="ctr">
              <a:buNone/>
            </a:pPr>
            <a:r>
              <a:rPr lang="en-US" sz="2000" dirty="0" smtClean="0"/>
              <a:t>(</a:t>
            </a:r>
            <a:r>
              <a:rPr lang="en-US" sz="2000" dirty="0" err="1" smtClean="0"/>
              <a:t>Database,queries</a:t>
            </a:r>
            <a:r>
              <a:rPr lang="en-US" sz="2000" dirty="0" smtClean="0"/>
              <a:t>)</a:t>
            </a:r>
          </a:p>
          <a:p>
            <a:pPr algn="ctr">
              <a:buNone/>
            </a:pPr>
            <a:endParaRPr lang="en-US" sz="2000" dirty="0" smtClean="0"/>
          </a:p>
          <a:p>
            <a:pPr algn="ctr">
              <a:buNone/>
            </a:pPr>
            <a:endParaRPr lang="en-US" sz="2000" dirty="0"/>
          </a:p>
          <a:p>
            <a:pPr algn="ctr">
              <a:buNone/>
            </a:pPr>
            <a:endParaRPr lang="en-US" sz="2000" dirty="0"/>
          </a:p>
          <a:p>
            <a:pPr algn="ctr">
              <a:buNone/>
            </a:pPr>
            <a:r>
              <a:rPr lang="en-US" sz="2000" dirty="0" smtClean="0"/>
              <a:t>Power BI</a:t>
            </a:r>
          </a:p>
          <a:p>
            <a:pPr algn="ctr">
              <a:buNone/>
            </a:pPr>
            <a:r>
              <a:rPr lang="en-US" sz="2000" dirty="0" smtClean="0"/>
              <a:t>(Dashboard)</a:t>
            </a:r>
          </a:p>
          <a:p>
            <a:pPr>
              <a:buNone/>
            </a:pPr>
            <a:endParaRPr lang="en-US" sz="2000" dirty="0"/>
          </a:p>
          <a:p>
            <a:pPr>
              <a:buNone/>
            </a:pPr>
            <a:endParaRPr lang="en-US" sz="2000" dirty="0"/>
          </a:p>
        </p:txBody>
      </p:sp>
      <p:sp>
        <p:nvSpPr>
          <p:cNvPr id="4" name="Down Arrow 3"/>
          <p:cNvSpPr/>
          <p:nvPr/>
        </p:nvSpPr>
        <p:spPr>
          <a:xfrm>
            <a:off x="4419600" y="2057400"/>
            <a:ext cx="304800" cy="5334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Down Arrow 4"/>
          <p:cNvSpPr/>
          <p:nvPr/>
        </p:nvSpPr>
        <p:spPr>
          <a:xfrm>
            <a:off x="4419600" y="3581400"/>
            <a:ext cx="304800" cy="5334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own Arrow 5"/>
          <p:cNvSpPr/>
          <p:nvPr/>
        </p:nvSpPr>
        <p:spPr>
          <a:xfrm>
            <a:off x="4419600" y="4953000"/>
            <a:ext cx="304800" cy="5334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u="sng" dirty="0" smtClean="0"/>
              <a:t>DATASET INFORMATION</a:t>
            </a:r>
            <a:endParaRPr lang="en-US" b="1" u="sng" dirty="0"/>
          </a:p>
        </p:txBody>
      </p:sp>
      <p:graphicFrame>
        <p:nvGraphicFramePr>
          <p:cNvPr id="4" name="Content Placeholder 3"/>
          <p:cNvGraphicFramePr>
            <a:graphicFrameLocks noGrp="1"/>
          </p:cNvGraphicFramePr>
          <p:nvPr>
            <p:ph idx="1"/>
          </p:nvPr>
        </p:nvGraphicFramePr>
        <p:xfrm>
          <a:off x="457200" y="1905000"/>
          <a:ext cx="8229600" cy="411480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685800">
                <a:tc>
                  <a:txBody>
                    <a:bodyPr/>
                    <a:lstStyle/>
                    <a:p>
                      <a:pPr algn="ctr"/>
                      <a:r>
                        <a:rPr lang="en-US" dirty="0" smtClean="0"/>
                        <a:t>ATTRIBUTE</a:t>
                      </a:r>
                      <a:endParaRPr lang="en-US" dirty="0"/>
                    </a:p>
                  </a:txBody>
                  <a:tcPr/>
                </a:tc>
                <a:tc>
                  <a:txBody>
                    <a:bodyPr/>
                    <a:lstStyle/>
                    <a:p>
                      <a:pPr algn="ctr"/>
                      <a:r>
                        <a:rPr lang="en-US" dirty="0" smtClean="0"/>
                        <a:t>DESCRIPTION</a:t>
                      </a:r>
                      <a:endParaRPr lang="en-US" dirty="0"/>
                    </a:p>
                  </a:txBody>
                  <a:tcPr/>
                </a:tc>
                <a:extLst>
                  <a:ext uri="{0D108BD9-81ED-4DB2-BD59-A6C34878D82A}">
                    <a16:rowId xmlns:a16="http://schemas.microsoft.com/office/drawing/2014/main" val="10000"/>
                  </a:ext>
                </a:extLst>
              </a:tr>
              <a:tr h="685800">
                <a:tc>
                  <a:txBody>
                    <a:bodyPr/>
                    <a:lstStyle/>
                    <a:p>
                      <a:pPr algn="ctr"/>
                      <a:r>
                        <a:rPr lang="en-US" dirty="0" smtClean="0"/>
                        <a:t>Total Records</a:t>
                      </a:r>
                      <a:endParaRPr lang="en-US" dirty="0"/>
                    </a:p>
                  </a:txBody>
                  <a:tcPr/>
                </a:tc>
                <a:tc>
                  <a:txBody>
                    <a:bodyPr/>
                    <a:lstStyle/>
                    <a:p>
                      <a:pPr algn="ctr"/>
                      <a:r>
                        <a:rPr lang="en-US" dirty="0" smtClean="0"/>
                        <a:t>900</a:t>
                      </a:r>
                      <a:endParaRPr lang="en-US" dirty="0"/>
                    </a:p>
                  </a:txBody>
                  <a:tcPr/>
                </a:tc>
                <a:extLst>
                  <a:ext uri="{0D108BD9-81ED-4DB2-BD59-A6C34878D82A}">
                    <a16:rowId xmlns:a16="http://schemas.microsoft.com/office/drawing/2014/main" val="10001"/>
                  </a:ext>
                </a:extLst>
              </a:tr>
              <a:tr h="685800">
                <a:tc>
                  <a:txBody>
                    <a:bodyPr/>
                    <a:lstStyle/>
                    <a:p>
                      <a:pPr algn="ctr"/>
                      <a:r>
                        <a:rPr lang="en-US" dirty="0" smtClean="0"/>
                        <a:t>Platform</a:t>
                      </a:r>
                      <a:endParaRPr lang="en-US" dirty="0"/>
                    </a:p>
                  </a:txBody>
                  <a:tcPr/>
                </a:tc>
                <a:tc>
                  <a:txBody>
                    <a:bodyPr/>
                    <a:lstStyle/>
                    <a:p>
                      <a:pPr algn="ctr"/>
                      <a:r>
                        <a:rPr lang="en-US" dirty="0" smtClean="0"/>
                        <a:t>Twitter , Facebook , Instagram , Reddit</a:t>
                      </a:r>
                      <a:endParaRPr lang="en-US" dirty="0"/>
                    </a:p>
                  </a:txBody>
                  <a:tcPr/>
                </a:tc>
                <a:extLst>
                  <a:ext uri="{0D108BD9-81ED-4DB2-BD59-A6C34878D82A}">
                    <a16:rowId xmlns:a16="http://schemas.microsoft.com/office/drawing/2014/main" val="10002"/>
                  </a:ext>
                </a:extLst>
              </a:tr>
              <a:tr h="685800">
                <a:tc>
                  <a:txBody>
                    <a:bodyPr/>
                    <a:lstStyle/>
                    <a:p>
                      <a:pPr algn="ctr"/>
                      <a:r>
                        <a:rPr lang="en-US" dirty="0" smtClean="0"/>
                        <a:t>Brands</a:t>
                      </a:r>
                      <a:endParaRPr lang="en-US" dirty="0"/>
                    </a:p>
                  </a:txBody>
                  <a:tcPr/>
                </a:tc>
                <a:tc>
                  <a:txBody>
                    <a:bodyPr/>
                    <a:lstStyle/>
                    <a:p>
                      <a:pPr algn="ctr"/>
                      <a:r>
                        <a:rPr lang="en-US" dirty="0" smtClean="0"/>
                        <a:t>Apple , Google , Vivo , OPPO , Samsung</a:t>
                      </a:r>
                      <a:endParaRPr lang="en-US" dirty="0"/>
                    </a:p>
                  </a:txBody>
                  <a:tcPr/>
                </a:tc>
                <a:extLst>
                  <a:ext uri="{0D108BD9-81ED-4DB2-BD59-A6C34878D82A}">
                    <a16:rowId xmlns:a16="http://schemas.microsoft.com/office/drawing/2014/main" val="10003"/>
                  </a:ext>
                </a:extLst>
              </a:tr>
              <a:tr h="685800">
                <a:tc>
                  <a:txBody>
                    <a:bodyPr/>
                    <a:lstStyle/>
                    <a:p>
                      <a:pPr algn="ctr"/>
                      <a:r>
                        <a:rPr lang="en-US" dirty="0" smtClean="0"/>
                        <a:t>Sentiments</a:t>
                      </a:r>
                      <a:endParaRPr lang="en-US" dirty="0"/>
                    </a:p>
                  </a:txBody>
                  <a:tcPr/>
                </a:tc>
                <a:tc>
                  <a:txBody>
                    <a:bodyPr/>
                    <a:lstStyle/>
                    <a:p>
                      <a:pPr algn="ctr"/>
                      <a:r>
                        <a:rPr lang="en-US" dirty="0" smtClean="0"/>
                        <a:t>Positive , Negative , Neutral</a:t>
                      </a:r>
                      <a:endParaRPr lang="en-US" dirty="0"/>
                    </a:p>
                  </a:txBody>
                  <a:tcPr/>
                </a:tc>
                <a:extLst>
                  <a:ext uri="{0D108BD9-81ED-4DB2-BD59-A6C34878D82A}">
                    <a16:rowId xmlns:a16="http://schemas.microsoft.com/office/drawing/2014/main" val="10004"/>
                  </a:ext>
                </a:extLst>
              </a:tr>
              <a:tr h="685800">
                <a:tc>
                  <a:txBody>
                    <a:bodyPr/>
                    <a:lstStyle/>
                    <a:p>
                      <a:pPr algn="ctr"/>
                      <a:r>
                        <a:rPr lang="en-US" dirty="0" smtClean="0"/>
                        <a:t>Metrics</a:t>
                      </a:r>
                      <a:endParaRPr lang="en-US" dirty="0"/>
                    </a:p>
                  </a:txBody>
                  <a:tcPr/>
                </a:tc>
                <a:tc>
                  <a:txBody>
                    <a:bodyPr/>
                    <a:lstStyle/>
                    <a:p>
                      <a:pPr algn="ctr"/>
                      <a:r>
                        <a:rPr lang="en-US" dirty="0" smtClean="0"/>
                        <a:t>Likes , Share</a:t>
                      </a:r>
                      <a:r>
                        <a:rPr lang="en-US" baseline="0" dirty="0" smtClean="0"/>
                        <a:t> , Comments</a:t>
                      </a:r>
                      <a:endParaRPr lang="en-US" dirty="0"/>
                    </a:p>
                  </a:txBody>
                  <a:tcPr/>
                </a:tc>
                <a:extLst>
                  <a:ext uri="{0D108BD9-81ED-4DB2-BD59-A6C34878D82A}">
                    <a16:rowId xmlns:a16="http://schemas.microsoft.com/office/drawing/2014/main" val="10005"/>
                  </a:ext>
                </a:extLst>
              </a:tr>
            </a:tbl>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u="sng" dirty="0" smtClean="0"/>
              <a:t>WORKFLOW</a:t>
            </a:r>
            <a:endParaRPr lang="en-US" b="1" u="sng" dirty="0"/>
          </a:p>
        </p:txBody>
      </p:sp>
      <p:sp>
        <p:nvSpPr>
          <p:cNvPr id="3" name="Content Placeholder 2"/>
          <p:cNvSpPr>
            <a:spLocks noGrp="1"/>
          </p:cNvSpPr>
          <p:nvPr>
            <p:ph idx="1"/>
          </p:nvPr>
        </p:nvSpPr>
        <p:spPr>
          <a:xfrm>
            <a:off x="457200" y="1600200"/>
            <a:ext cx="8229600" cy="5029200"/>
          </a:xfrm>
        </p:spPr>
        <p:txBody>
          <a:bodyPr/>
          <a:lstStyle/>
          <a:p>
            <a:pPr algn="just"/>
            <a:r>
              <a:rPr lang="en-US" dirty="0" smtClean="0"/>
              <a:t>Excel - used to create dataset , initial clean</a:t>
            </a:r>
          </a:p>
          <a:p>
            <a:pPr algn="just">
              <a:buNone/>
            </a:pPr>
            <a:r>
              <a:rPr lang="en-US" dirty="0"/>
              <a:t>a</a:t>
            </a:r>
            <a:r>
              <a:rPr lang="en-US" dirty="0" smtClean="0"/>
              <a:t>nd dataset.</a:t>
            </a:r>
          </a:p>
          <a:p>
            <a:pPr algn="just"/>
            <a:r>
              <a:rPr lang="en-US" dirty="0" smtClean="0"/>
              <a:t>Python - used for data cleaning and to do operation such as pandas , </a:t>
            </a:r>
            <a:r>
              <a:rPr lang="en-US" dirty="0" err="1" smtClean="0"/>
              <a:t>nltk.tokenize</a:t>
            </a:r>
            <a:r>
              <a:rPr lang="en-US" dirty="0" smtClean="0"/>
              <a:t> , </a:t>
            </a:r>
            <a:r>
              <a:rPr lang="en-US" dirty="0" err="1" smtClean="0"/>
              <a:t>matplotlib.pyplot</a:t>
            </a:r>
            <a:r>
              <a:rPr lang="en-US" dirty="0" smtClean="0"/>
              <a:t> , </a:t>
            </a:r>
            <a:r>
              <a:rPr lang="en-US" dirty="0" err="1" smtClean="0"/>
              <a:t>wordcloud</a:t>
            </a:r>
            <a:r>
              <a:rPr lang="en-US" dirty="0" smtClean="0"/>
              <a:t>.</a:t>
            </a:r>
          </a:p>
          <a:p>
            <a:pPr algn="just"/>
            <a:r>
              <a:rPr lang="en-US" dirty="0" err="1" smtClean="0"/>
              <a:t>PostgreSQL</a:t>
            </a:r>
            <a:r>
              <a:rPr lang="en-US" dirty="0" smtClean="0"/>
              <a:t> – used for data storage , queries processing and reporting.</a:t>
            </a:r>
          </a:p>
          <a:p>
            <a:pPr algn="just"/>
            <a:r>
              <a:rPr lang="en-US" dirty="0" smtClean="0"/>
              <a:t>Power BI – used for dashboard creation , KPI </a:t>
            </a:r>
            <a:r>
              <a:rPr lang="en-US" dirty="0" err="1" smtClean="0"/>
              <a:t>visualisation</a:t>
            </a:r>
            <a:r>
              <a:rPr lang="en-US" dirty="0" smtClean="0"/>
              <a:t> and analysis. </a:t>
            </a:r>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762000"/>
          </a:xfrm>
        </p:spPr>
        <p:txBody>
          <a:bodyPr/>
          <a:lstStyle/>
          <a:p>
            <a:r>
              <a:rPr lang="en-US" b="1" u="sng" dirty="0" smtClean="0"/>
              <a:t>EXECUTIVE DASHBOARD</a:t>
            </a:r>
            <a:endParaRPr lang="en-US" u="sng" dirty="0"/>
          </a:p>
        </p:txBody>
      </p:sp>
      <p:pic>
        <p:nvPicPr>
          <p:cNvPr id="1026" name="Picture 2"/>
          <p:cNvPicPr>
            <a:picLocks noGrp="1" noChangeAspect="1" noChangeArrowheads="1"/>
          </p:cNvPicPr>
          <p:nvPr>
            <p:ph idx="1"/>
          </p:nvPr>
        </p:nvPicPr>
        <p:blipFill>
          <a:blip r:embed="rId2"/>
          <a:srcRect/>
          <a:stretch>
            <a:fillRect/>
          </a:stretch>
        </p:blipFill>
        <p:spPr bwMode="auto">
          <a:xfrm>
            <a:off x="4190470" y="914400"/>
            <a:ext cx="4691732" cy="3124200"/>
          </a:xfrm>
          <a:prstGeom prst="rect">
            <a:avLst/>
          </a:prstGeom>
          <a:noFill/>
          <a:ln w="9525">
            <a:noFill/>
            <a:miter lim="800000"/>
            <a:headEnd/>
            <a:tailEnd/>
          </a:ln>
          <a:effectLst/>
        </p:spPr>
      </p:pic>
      <p:sp>
        <p:nvSpPr>
          <p:cNvPr id="5" name="TextBox 4"/>
          <p:cNvSpPr txBox="1"/>
          <p:nvPr/>
        </p:nvSpPr>
        <p:spPr>
          <a:xfrm>
            <a:off x="228600" y="990600"/>
            <a:ext cx="3810000" cy="2862322"/>
          </a:xfrm>
          <a:prstGeom prst="rect">
            <a:avLst/>
          </a:prstGeom>
          <a:noFill/>
        </p:spPr>
        <p:txBody>
          <a:bodyPr wrap="square" rtlCol="0">
            <a:spAutoFit/>
          </a:bodyPr>
          <a:lstStyle/>
          <a:p>
            <a:r>
              <a:rPr lang="en-US" dirty="0" smtClean="0"/>
              <a:t>The Executive Dashboard provides a comprehensive overview of social media sentiment and brand performance across multiple platforms. It summarizes key metrics such as total posts, positive, negative, and neutral sentiments, along with the overall reputation </a:t>
            </a:r>
            <a:r>
              <a:rPr lang="en-US" dirty="0" err="1" smtClean="0"/>
              <a:t>score.visualizations</a:t>
            </a:r>
            <a:r>
              <a:rPr lang="en-US" dirty="0" smtClean="0"/>
              <a:t> highlight sentiment distribution and platform activity. </a:t>
            </a:r>
            <a:endParaRPr lang="en-US" dirty="0"/>
          </a:p>
        </p:txBody>
      </p:sp>
      <p:sp>
        <p:nvSpPr>
          <p:cNvPr id="6" name="TextBox 5"/>
          <p:cNvSpPr txBox="1"/>
          <p:nvPr/>
        </p:nvSpPr>
        <p:spPr>
          <a:xfrm>
            <a:off x="457200" y="4191000"/>
            <a:ext cx="8382000" cy="2862322"/>
          </a:xfrm>
          <a:prstGeom prst="rect">
            <a:avLst/>
          </a:prstGeom>
          <a:noFill/>
        </p:spPr>
        <p:txBody>
          <a:bodyPr wrap="square" rtlCol="0">
            <a:spAutoFit/>
          </a:bodyPr>
          <a:lstStyle/>
          <a:p>
            <a:pPr marL="342900" indent="-342900">
              <a:buFont typeface="Arial" pitchFamily="34" charset="0"/>
              <a:buChar char="•"/>
            </a:pPr>
            <a:r>
              <a:rPr lang="en-US" dirty="0" smtClean="0"/>
              <a:t>KPI CARDS  - Positive post(shows the total number of positive sentiment post),Negative post(shows the total number of negative sentiment post),Neutral post(shows the total number of neutral sentiment post),Total post(shows the total number of negative sentiment post) &amp;Reputation score(Measure overall brand reputation based on sentiment balance).</a:t>
            </a:r>
          </a:p>
          <a:p>
            <a:pPr marL="342900" indent="-342900">
              <a:buFont typeface="Arial" pitchFamily="34" charset="0"/>
              <a:buChar char="•"/>
            </a:pPr>
            <a:r>
              <a:rPr lang="en-US" dirty="0" smtClean="0"/>
              <a:t>PIE CHART – Percentage by sentiment (shows the distribution of </a:t>
            </a:r>
            <a:r>
              <a:rPr lang="en-US" dirty="0" err="1" smtClean="0"/>
              <a:t>positive,negative</a:t>
            </a:r>
            <a:r>
              <a:rPr lang="en-US" dirty="0" smtClean="0"/>
              <a:t> &amp; neutral sentiment.</a:t>
            </a:r>
          </a:p>
          <a:p>
            <a:pPr marL="342900" indent="-342900">
              <a:buFont typeface="Arial" pitchFamily="34" charset="0"/>
              <a:buChar char="•"/>
            </a:pPr>
            <a:r>
              <a:rPr lang="en-US" dirty="0" smtClean="0"/>
              <a:t>DONUT CHART – percentage  by platform (displays the distribution of posts across social media platforms)  </a:t>
            </a:r>
          </a:p>
          <a:p>
            <a:pPr marL="342900" indent="-342900">
              <a:buFont typeface="Arial" pitchFamily="34" charset="0"/>
              <a:buChar char="•"/>
            </a:pPr>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4909" y="19190"/>
            <a:ext cx="8229600" cy="762000"/>
          </a:xfrm>
        </p:spPr>
        <p:txBody>
          <a:bodyPr>
            <a:normAutofit/>
          </a:bodyPr>
          <a:lstStyle/>
          <a:p>
            <a:r>
              <a:rPr lang="en-US" sz="3600" b="1" u="sng" dirty="0" smtClean="0"/>
              <a:t>PLATFORM ANALYSIS DASHBOARD</a:t>
            </a:r>
            <a:endParaRPr lang="en-US" sz="3600" u="sng" dirty="0"/>
          </a:p>
        </p:txBody>
      </p:sp>
      <p:sp>
        <p:nvSpPr>
          <p:cNvPr id="6" name="Content Placeholder 5"/>
          <p:cNvSpPr>
            <a:spLocks noGrp="1"/>
          </p:cNvSpPr>
          <p:nvPr>
            <p:ph idx="1"/>
          </p:nvPr>
        </p:nvSpPr>
        <p:spPr>
          <a:xfrm>
            <a:off x="124692" y="784934"/>
            <a:ext cx="4523508" cy="3293918"/>
          </a:xfrm>
        </p:spPr>
        <p:txBody>
          <a:bodyPr>
            <a:normAutofit/>
          </a:bodyPr>
          <a:lstStyle/>
          <a:p>
            <a:pPr marL="0" indent="0">
              <a:buNone/>
            </a:pPr>
            <a:r>
              <a:rPr lang="en-US" sz="2000" dirty="0"/>
              <a:t>The Platform Analysis Dashboard provides insights into social media performance across different platforms such as Twitter, Facebook, Instagram, and Reddit. It helps compare user engagement, content distribution, and sentiment trends to identify the most effective platform for audience interaction and brand </a:t>
            </a:r>
            <a:r>
              <a:rPr lang="en-US" sz="2000" dirty="0" smtClean="0"/>
              <a:t>communication.</a:t>
            </a:r>
            <a:endParaRPr lang="en-US" sz="2000" dirty="0"/>
          </a:p>
        </p:txBody>
      </p:sp>
      <p:sp>
        <p:nvSpPr>
          <p:cNvPr id="8" name="Content Placeholder 5"/>
          <p:cNvSpPr txBox="1">
            <a:spLocks/>
          </p:cNvSpPr>
          <p:nvPr/>
        </p:nvSpPr>
        <p:spPr>
          <a:xfrm>
            <a:off x="103909" y="4218706"/>
            <a:ext cx="8783782" cy="263929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900" b="1" u="sng" dirty="0">
                <a:latin typeface="Bell MT" panose="02020503060305020303" pitchFamily="18" charset="0"/>
              </a:rPr>
              <a:t>SENTIMENT DISTRIBUTION BY PLATFORM </a:t>
            </a:r>
            <a:r>
              <a:rPr lang="en-US" sz="1900" b="1" dirty="0"/>
              <a:t>– </a:t>
            </a:r>
            <a:r>
              <a:rPr lang="en-US" sz="1900" dirty="0">
                <a:latin typeface="Times New Roman" panose="02020603050405020304" pitchFamily="18" charset="0"/>
                <a:cs typeface="Times New Roman" panose="02020603050405020304" pitchFamily="18" charset="0"/>
              </a:rPr>
              <a:t>Displays the proportion of Positive, Negative, and Neutral posts across each social media platform</a:t>
            </a:r>
            <a:r>
              <a:rPr lang="en-US" sz="1900" dirty="0" smtClean="0">
                <a:latin typeface="Times New Roman" panose="02020603050405020304" pitchFamily="18" charset="0"/>
                <a:cs typeface="Times New Roman" panose="02020603050405020304" pitchFamily="18" charset="0"/>
              </a:rPr>
              <a:t>.</a:t>
            </a:r>
          </a:p>
          <a:p>
            <a:pPr marL="0" indent="0">
              <a:buNone/>
            </a:pPr>
            <a:r>
              <a:rPr lang="en-US" sz="1900" b="1" u="sng" dirty="0">
                <a:latin typeface="Bell MT" panose="02020503060305020303" pitchFamily="18" charset="0"/>
                <a:cs typeface="Times New Roman" panose="02020603050405020304" pitchFamily="18" charset="0"/>
              </a:rPr>
              <a:t>ENGAGEMENT COMPARISON BY PLATFORM </a:t>
            </a:r>
            <a:r>
              <a:rPr lang="en-US" sz="1900" dirty="0">
                <a:latin typeface="Times New Roman" panose="02020603050405020304" pitchFamily="18" charset="0"/>
                <a:cs typeface="Times New Roman" panose="02020603050405020304" pitchFamily="18" charset="0"/>
              </a:rPr>
              <a:t>– Compares likes, comments, and shares received on different platforms to measure audience engagement</a:t>
            </a:r>
            <a:r>
              <a:rPr lang="en-US" sz="1900" dirty="0" smtClean="0">
                <a:latin typeface="Times New Roman" panose="02020603050405020304" pitchFamily="18" charset="0"/>
                <a:cs typeface="Times New Roman" panose="02020603050405020304" pitchFamily="18" charset="0"/>
              </a:rPr>
              <a:t>.</a:t>
            </a:r>
          </a:p>
          <a:p>
            <a:pPr marL="0" indent="0">
              <a:buNone/>
            </a:pPr>
            <a:r>
              <a:rPr lang="en-US" sz="1900" b="1" u="sng" dirty="0">
                <a:latin typeface="Bell MT" panose="02020503060305020303" pitchFamily="18" charset="0"/>
                <a:cs typeface="Times New Roman" panose="02020603050405020304" pitchFamily="18" charset="0"/>
              </a:rPr>
              <a:t>PLATFORM PERFORMANCE ANALYSIS </a:t>
            </a:r>
            <a:r>
              <a:rPr lang="en-US" sz="1900" dirty="0">
                <a:latin typeface="Times New Roman" panose="02020603050405020304" pitchFamily="18" charset="0"/>
                <a:cs typeface="Times New Roman" panose="02020603050405020304" pitchFamily="18" charset="0"/>
              </a:rPr>
              <a:t>– Identifies which platform generates the highest user interaction and content reach.</a:t>
            </a:r>
            <a:endParaRPr lang="en-US" sz="1900" dirty="0" smtClean="0">
              <a:latin typeface="Times New Roman" panose="02020603050405020304" pitchFamily="18" charset="0"/>
              <a:cs typeface="Times New Roman" panose="02020603050405020304" pitchFamily="18" charset="0"/>
            </a:endParaRPr>
          </a:p>
          <a:p>
            <a:pPr marL="0" indent="0">
              <a:buNone/>
            </a:pPr>
            <a:r>
              <a:rPr lang="en-US" sz="2000" b="1" u="sng" dirty="0">
                <a:latin typeface="Bell MT" panose="02020503060305020303" pitchFamily="18" charset="0"/>
                <a:cs typeface="Times New Roman" panose="02020603050405020304" pitchFamily="18" charset="0"/>
              </a:rPr>
              <a:t>SOCIAL MEDIA INSIGHTS </a:t>
            </a:r>
            <a:r>
              <a:rPr lang="en-US" sz="2000" dirty="0">
                <a:latin typeface="Times New Roman" panose="02020603050405020304" pitchFamily="18" charset="0"/>
                <a:cs typeface="Times New Roman" panose="02020603050405020304" pitchFamily="18" charset="0"/>
              </a:rPr>
              <a:t>– Helps understand audience behavior, platform effectiveness, and opportunities to improve social media strategy.</a:t>
            </a:r>
          </a:p>
        </p:txBody>
      </p:sp>
      <p:sp>
        <p:nvSpPr>
          <p:cNvPr id="10" name="Content Placeholder 5"/>
          <p:cNvSpPr txBox="1">
            <a:spLocks/>
          </p:cNvSpPr>
          <p:nvPr/>
        </p:nvSpPr>
        <p:spPr>
          <a:xfrm>
            <a:off x="124692" y="3560172"/>
            <a:ext cx="8485909" cy="768507"/>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000" dirty="0"/>
              <a:t>Selecting a sentiment segment filters other visuals to show detailed platform-specific insights.</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02727" y="723106"/>
            <a:ext cx="4641273" cy="2833322"/>
          </a:xfrm>
          <a:prstGeom prst="rect">
            <a:avLst/>
          </a:prstGeom>
        </p:spPr>
      </p:pic>
    </p:spTree>
    <p:extLst>
      <p:ext uri="{BB962C8B-B14F-4D97-AF65-F5344CB8AC3E}">
        <p14:creationId xmlns:p14="http://schemas.microsoft.com/office/powerpoint/2010/main" val="24445944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3855"/>
            <a:ext cx="8229600" cy="563562"/>
          </a:xfrm>
        </p:spPr>
        <p:txBody>
          <a:bodyPr>
            <a:normAutofit fontScale="90000"/>
          </a:bodyPr>
          <a:lstStyle/>
          <a:p>
            <a:r>
              <a:rPr lang="en-US" sz="3200" dirty="0">
                <a:latin typeface="Times New Roman" panose="02020603050405020304" pitchFamily="18" charset="0"/>
                <a:cs typeface="Times New Roman" panose="02020603050405020304" pitchFamily="18" charset="0"/>
              </a:rPr>
              <a:t>TRENDING TOPICS DASHBOARD</a:t>
            </a:r>
          </a:p>
        </p:txBody>
      </p:sp>
      <p:sp>
        <p:nvSpPr>
          <p:cNvPr id="3" name="Content Placeholder 2"/>
          <p:cNvSpPr>
            <a:spLocks noGrp="1"/>
          </p:cNvSpPr>
          <p:nvPr>
            <p:ph idx="1"/>
          </p:nvPr>
        </p:nvSpPr>
        <p:spPr>
          <a:xfrm>
            <a:off x="34636" y="685800"/>
            <a:ext cx="4343400" cy="3657600"/>
          </a:xfrm>
        </p:spPr>
        <p:txBody>
          <a:bodyPr>
            <a:normAutofit/>
          </a:bodyPr>
          <a:lstStyle/>
          <a:p>
            <a:pPr marL="0" indent="0">
              <a:buNone/>
            </a:pPr>
            <a:r>
              <a:rPr lang="en-US" sz="2000" dirty="0"/>
              <a:t>The Trending Topics Dashboard provides insights into the most discussed hashtags, keywords, and brands across social media platforms. It helps identify emerging trends, popular conversations, and brand visibility by analyzing user-generated content and engagement patterns. It helps identify what users are discussing most frequently and which brands receive the highest attention.</a:t>
            </a:r>
          </a:p>
        </p:txBody>
      </p:sp>
      <p:sp>
        <p:nvSpPr>
          <p:cNvPr id="4" name="Content Placeholder 2"/>
          <p:cNvSpPr txBox="1">
            <a:spLocks/>
          </p:cNvSpPr>
          <p:nvPr/>
        </p:nvSpPr>
        <p:spPr>
          <a:xfrm>
            <a:off x="34636" y="4336473"/>
            <a:ext cx="9109364" cy="2514600"/>
          </a:xfrm>
          <a:prstGeom prst="rect">
            <a:avLst/>
          </a:prstGeom>
        </p:spPr>
        <p:txBody>
          <a:bodyPr vert="horz" lIns="91440" tIns="45720" rIns="91440" bIns="45720" rtlCol="0">
            <a:normAutofit fontScale="92500" lnSpcReduction="1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000" b="1" u="sng" dirty="0">
                <a:latin typeface="Bell MT" panose="02020503060305020303" pitchFamily="18" charset="0"/>
              </a:rPr>
              <a:t>TOP TRENDING HASHTAGS </a:t>
            </a:r>
            <a:r>
              <a:rPr lang="en-US" sz="2000" dirty="0"/>
              <a:t>– </a:t>
            </a:r>
            <a:r>
              <a:rPr lang="en-US" sz="2000" dirty="0">
                <a:latin typeface="Times New Roman" panose="02020603050405020304" pitchFamily="18" charset="0"/>
                <a:cs typeface="Times New Roman" panose="02020603050405020304" pitchFamily="18" charset="0"/>
              </a:rPr>
              <a:t>Displays the most frequently used hashtags based on user activity and post volume</a:t>
            </a:r>
            <a:r>
              <a:rPr lang="en-US" sz="2000" dirty="0" smtClean="0">
                <a:latin typeface="Times New Roman" panose="02020603050405020304" pitchFamily="18" charset="0"/>
                <a:cs typeface="Times New Roman" panose="02020603050405020304" pitchFamily="18" charset="0"/>
              </a:rPr>
              <a:t>.</a:t>
            </a:r>
          </a:p>
          <a:p>
            <a:pPr marL="0" indent="0">
              <a:buNone/>
            </a:pPr>
            <a:r>
              <a:rPr lang="en-US" sz="2000" b="1" u="sng" dirty="0">
                <a:latin typeface="Bell MT" panose="02020503060305020303" pitchFamily="18" charset="0"/>
              </a:rPr>
              <a:t>HASHTAG WORD CLOUD </a:t>
            </a:r>
            <a:r>
              <a:rPr lang="en-US" sz="2000" dirty="0"/>
              <a:t>– </a:t>
            </a:r>
            <a:r>
              <a:rPr lang="en-US" sz="2000" dirty="0">
                <a:latin typeface="Times New Roman" panose="02020603050405020304" pitchFamily="18" charset="0"/>
                <a:cs typeface="Times New Roman" panose="02020603050405020304" pitchFamily="18" charset="0"/>
              </a:rPr>
              <a:t>Visualizes popular hashtags, making it easy to identify trending discussions and topics</a:t>
            </a:r>
            <a:r>
              <a:rPr lang="en-US" sz="2000" dirty="0" smtClean="0">
                <a:latin typeface="Times New Roman" panose="02020603050405020304" pitchFamily="18" charset="0"/>
                <a:cs typeface="Times New Roman" panose="02020603050405020304" pitchFamily="18" charset="0"/>
              </a:rPr>
              <a:t>.</a:t>
            </a:r>
          </a:p>
          <a:p>
            <a:pPr marL="0" indent="0">
              <a:buNone/>
            </a:pPr>
            <a:r>
              <a:rPr lang="en-US" sz="2000" b="1" u="sng" dirty="0">
                <a:latin typeface="Bell MT" panose="02020503060305020303" pitchFamily="18" charset="0"/>
              </a:rPr>
              <a:t>BRAND MENTION ANALYSIS </a:t>
            </a:r>
            <a:r>
              <a:rPr lang="en-US" sz="2000" dirty="0"/>
              <a:t>– </a:t>
            </a:r>
            <a:r>
              <a:rPr lang="en-US" sz="2000" dirty="0">
                <a:latin typeface="Times New Roman" panose="02020603050405020304" pitchFamily="18" charset="0"/>
                <a:cs typeface="Times New Roman" panose="02020603050405020304" pitchFamily="18" charset="0"/>
              </a:rPr>
              <a:t>Compares the number of posts associated with different brands to measure online visibility and audience interest</a:t>
            </a:r>
            <a:r>
              <a:rPr lang="en-US" sz="2000" dirty="0" smtClean="0"/>
              <a:t>.</a:t>
            </a:r>
          </a:p>
          <a:p>
            <a:pPr marL="0" indent="0">
              <a:buNone/>
            </a:pPr>
            <a:r>
              <a:rPr lang="en-US" sz="2000" b="1" u="sng" dirty="0">
                <a:latin typeface="Bell MT" panose="02020503060305020303" pitchFamily="18" charset="0"/>
              </a:rPr>
              <a:t>TREND INSIGHTS </a:t>
            </a:r>
            <a:r>
              <a:rPr lang="en-US" sz="2000" dirty="0">
                <a:latin typeface="Times New Roman" panose="02020603050405020304" pitchFamily="18" charset="0"/>
                <a:cs typeface="Times New Roman" panose="02020603050405020304" pitchFamily="18" charset="0"/>
              </a:rPr>
              <a:t>– Helps track emerging topics, consumer interests, and market trends across social media platforms.</a:t>
            </a:r>
            <a:endParaRPr lang="en-US" sz="2000" dirty="0" smtClean="0">
              <a:latin typeface="Times New Roman" panose="02020603050405020304" pitchFamily="18" charset="0"/>
              <a:cs typeface="Times New Roman" panose="02020603050405020304" pitchFamily="18" charset="0"/>
            </a:endParaRPr>
          </a:p>
          <a:p>
            <a:pPr marL="0" indent="0">
              <a:buNone/>
            </a:pPr>
            <a:endParaRPr lang="en-US" sz="2000"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43400" y="577417"/>
            <a:ext cx="4724400" cy="3613583"/>
          </a:xfrm>
          <a:prstGeom prst="rect">
            <a:avLst/>
          </a:prstGeom>
        </p:spPr>
      </p:pic>
    </p:spTree>
    <p:extLst>
      <p:ext uri="{BB962C8B-B14F-4D97-AF65-F5344CB8AC3E}">
        <p14:creationId xmlns:p14="http://schemas.microsoft.com/office/powerpoint/2010/main" val="18068406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1282</TotalTime>
  <Words>647</Words>
  <Application>Microsoft Office PowerPoint</Application>
  <PresentationFormat>On-screen Show (4:3)</PresentationFormat>
  <Paragraphs>69</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Bell MT</vt:lpstr>
      <vt:lpstr>Calibri</vt:lpstr>
      <vt:lpstr>Times New Roman</vt:lpstr>
      <vt:lpstr>Office Theme</vt:lpstr>
      <vt:lpstr>SOCIAL MEDIA SENTIMENT AND  BRAND REPUTATION MONITORING SYSTEM</vt:lpstr>
      <vt:lpstr>PROJECT OBJECTIVE</vt:lpstr>
      <vt:lpstr>PowerPoint Presentation</vt:lpstr>
      <vt:lpstr>PROJECT ARCHITECTURE</vt:lpstr>
      <vt:lpstr>DATASET INFORMATION</vt:lpstr>
      <vt:lpstr>WORKFLOW</vt:lpstr>
      <vt:lpstr>EXECUTIVE DASHBOARD</vt:lpstr>
      <vt:lpstr>PLATFORM ANALYSIS DASHBOARD</vt:lpstr>
      <vt:lpstr>TRENDING TOPICS DASHBOARD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SOCIAL MEDIA SENTIMENT AND  BRAND REPUTATION MONITORING SYSTEM</dc:title>
  <dc:creator>User</dc:creator>
  <cp:lastModifiedBy>DELL</cp:lastModifiedBy>
  <cp:revision>21</cp:revision>
  <dcterms:created xsi:type="dcterms:W3CDTF">2026-06-23T07:28:19Z</dcterms:created>
  <dcterms:modified xsi:type="dcterms:W3CDTF">2026-06-25T07:10:36Z</dcterms:modified>
</cp:coreProperties>
</file>